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0461-A44C-45D2-9F75-334962E80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80D23-8980-4B43-916C-048A2368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E1924-6D0A-4A2E-9560-72BA7337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D29E9-2D6E-486F-B608-5FB535A0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1A52E-F6F8-4123-8E86-38F3D1F8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9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F535-2899-4B56-8B80-A51612E5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6EC09-0FBC-45CB-80F9-F416CDE62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236CC-7FDF-4789-A48D-DB512E74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E40B-CD68-426A-B0B4-C6ED2D14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DB658-4A2B-4DFD-B895-34B2EF4D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43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F113-54ED-449A-8E0E-DB781D2DD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01047-3F12-44B7-8509-3A725914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FE20-CB55-47AE-B16A-3267FB4B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CED2-38E9-49EE-A99C-80BD6E20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3EBB-7A68-41A1-8F4C-41287589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08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42BE-65DB-4FEF-B3D1-801C5157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FDFC9-3EBC-4E71-9C27-0A9771E08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F61E9-0D70-453B-A076-4AA068EC2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7A7BC-B1A8-4157-8D47-2794EF50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A879C-0A13-41CA-B587-9BE153A5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63533-3A78-4A96-8584-75D60435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50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F9C8-35D5-473E-AE0D-7F4AA462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4308A-F158-423C-A996-65FD8AE7C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5F9F9-BFBA-4F0A-892E-E1BF7CE22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0153C-386C-4425-801C-745563E2E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56895-0483-4A06-9581-B4540C21C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5D399-01A4-4635-B913-78B92DFF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0AB1D-71AC-453C-BF2A-684FF17B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892E4-1912-4F2F-902A-E4B75E37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1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7337-0449-4463-B77F-4977F57E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EBD60-D535-4793-9BEC-3D061C8B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18CEE-3803-4EA6-8EF6-1A916950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7888E-9583-4CE1-9878-62DD5748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86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5C13A-7356-4A5C-A633-73B28090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4A4A3-3404-4A8F-8C03-CE7E07C1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CCEDD-FEB5-4852-BE78-56F6FE22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7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A8A2-D5AA-4137-9667-DF0F894D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7F707-648D-4E9C-9157-9F35A22F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A8FC5-B35A-43EB-B9C9-4A19C8674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D1BDC-01B1-4845-A2F7-5AAA3CCF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3B828-E38D-4FA5-809B-0D1076C7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5A38B-F215-47EC-8DC1-900C2C1D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23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232C-956B-4AB5-A5BE-1F5133F1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D25BA-A89F-4870-B7C0-866BD6415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3B942-DA2D-4DB2-B756-990DFB7C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13FAE-6FB1-4001-8C16-3A3D7EB5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9D555-1E57-4EE0-AD97-DA59583D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89A49-34DD-4373-8A57-3ED355DF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96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50E1-2707-4097-B7CC-6F6E65F4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477A2-2EF0-4CFF-A9C4-6371C23EB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6664-CD8F-4DA5-8FD6-E2E8B603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B145-DDE7-4135-A943-037C90D4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D0A9C-80A6-4432-849A-26E2AE31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58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22587F-6EC4-493A-9DAB-F68FC117D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1877A-9737-4483-B0C4-E14F94D15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28EBE-DDEE-427D-A3A9-15156D13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38FE-296A-456D-B930-B6B28C5E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32AA-B536-43A0-AE32-A865D713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4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278B5C-6E2E-49D9-B96D-16292280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8A6F2-F7CD-4F4A-9F96-EA3505ABB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B3B02-242E-4CF3-B623-56EFE0236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364FC-352A-4ED2-97D0-5BFB6A147014}" type="datetimeFigureOut">
              <a:rPr lang="en-IN" smtClean="0"/>
              <a:t>04-02-2022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EC45-598A-43B9-9F65-2D45B0D71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A1E24-1019-44A0-98AB-FCFF1F174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857C9-796B-40EF-947F-D46600335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30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290NMZHSlI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6C209-2189-4EB5-88DA-9C8A92A612B0}"/>
              </a:ext>
            </a:extLst>
          </p:cNvPr>
          <p:cNvSpPr txBox="1"/>
          <p:nvPr/>
        </p:nvSpPr>
        <p:spPr>
          <a:xfrm>
            <a:off x="5257800" y="2914650"/>
            <a:ext cx="1151149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4000" dirty="0"/>
              <a:t>AWS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045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98B0D-F8A4-4880-85F6-832FCA760323}"/>
              </a:ext>
            </a:extLst>
          </p:cNvPr>
          <p:cNvSpPr txBox="1"/>
          <p:nvPr/>
        </p:nvSpPr>
        <p:spPr>
          <a:xfrm>
            <a:off x="401715" y="216516"/>
            <a:ext cx="9268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Root User </a:t>
            </a:r>
            <a:r>
              <a:rPr lang="en-US" dirty="0">
                <a:sym typeface="Wingdings" panose="05000000000000000000" pitchFamily="2" charset="2"/>
              </a:rPr>
              <a:t> User who created the account. It will be defaultly created.</a:t>
            </a:r>
            <a:endParaRPr lang="en-US" dirty="0"/>
          </a:p>
          <a:p>
            <a:r>
              <a:rPr lang="en-US" b="1" dirty="0"/>
              <a:t>IAM User </a:t>
            </a:r>
            <a:r>
              <a:rPr lang="en-US" dirty="0">
                <a:sym typeface="Wingdings" panose="05000000000000000000" pitchFamily="2" charset="2"/>
              </a:rPr>
              <a:t>  Identity and Access Management. Always Use IAM, It is a Best practice. It is better and safe to use than root user.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DC2FD-45FE-46EA-A901-446E714796CB}"/>
              </a:ext>
            </a:extLst>
          </p:cNvPr>
          <p:cNvSpPr txBox="1"/>
          <p:nvPr/>
        </p:nvSpPr>
        <p:spPr>
          <a:xfrm>
            <a:off x="337351" y="1740023"/>
            <a:ext cx="80840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IAM: [steps to Create a IAM User]</a:t>
            </a:r>
          </a:p>
          <a:p>
            <a:pPr marL="342900" indent="-342900">
              <a:buAutoNum type="arabicPeriod"/>
            </a:pPr>
            <a:r>
              <a:rPr lang="en-US" dirty="0"/>
              <a:t>Sign in to Console.</a:t>
            </a:r>
          </a:p>
          <a:p>
            <a:pPr marL="342900" indent="-342900">
              <a:buAutoNum type="arabicPeriod"/>
            </a:pPr>
            <a:r>
              <a:rPr lang="en-US" dirty="0"/>
              <a:t>Type IAM in Search Box.</a:t>
            </a:r>
          </a:p>
          <a:p>
            <a:pPr marL="342900" indent="-342900">
              <a:buAutoNum type="arabicPeriod"/>
            </a:pPr>
            <a:r>
              <a:rPr lang="en-US" dirty="0"/>
              <a:t>User </a:t>
            </a:r>
            <a:r>
              <a:rPr lang="en-US" dirty="0">
                <a:sym typeface="Wingdings" panose="05000000000000000000" pitchFamily="2" charset="2"/>
              </a:rPr>
              <a:t> Add Users  name, pwd  we can autogenerate or create custom pwd.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Permission is defined through policies.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If you created a autogenerated pwd. Please click the Download.csv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64FB0-3301-47C2-89A3-E870EF4131E4}"/>
              </a:ext>
            </a:extLst>
          </p:cNvPr>
          <p:cNvSpPr txBox="1"/>
          <p:nvPr/>
        </p:nvSpPr>
        <p:spPr>
          <a:xfrm>
            <a:off x="401715" y="3787675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IAM Users and Group: [steps to Create]</a:t>
            </a:r>
          </a:p>
          <a:p>
            <a:r>
              <a:rPr lang="en-US" dirty="0"/>
              <a:t>1. In Users Group </a:t>
            </a:r>
            <a:r>
              <a:rPr lang="en-US" dirty="0">
                <a:sym typeface="Wingdings" panose="05000000000000000000" pitchFamily="2" charset="2"/>
              </a:rPr>
              <a:t> click Create Group  add User in that group  apply policy for the user to access the group.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27D6A-3BEA-4A90-9D75-E9011D47DF94}"/>
              </a:ext>
            </a:extLst>
          </p:cNvPr>
          <p:cNvSpPr txBox="1"/>
          <p:nvPr/>
        </p:nvSpPr>
        <p:spPr>
          <a:xfrm>
            <a:off x="401715" y="5004332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IAM password policy: [steps to Create]</a:t>
            </a:r>
          </a:p>
          <a:p>
            <a:pPr marL="342900" indent="-342900">
              <a:buAutoNum type="arabicPeriod"/>
            </a:pPr>
            <a:r>
              <a:rPr lang="en-US" dirty="0"/>
              <a:t>Click Account Setting in (IAM management Console) </a:t>
            </a:r>
            <a:r>
              <a:rPr lang="en-US" dirty="0">
                <a:sym typeface="Wingdings" panose="05000000000000000000" pitchFamily="2" charset="2"/>
              </a:rPr>
              <a:t> click change pwd policy.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Select the checkbox whatever type of validation policy you want for your pwd.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5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88382F-2DAC-4760-91BE-1D7F65B810CE}"/>
              </a:ext>
            </a:extLst>
          </p:cNvPr>
          <p:cNvSpPr txBox="1"/>
          <p:nvPr/>
        </p:nvSpPr>
        <p:spPr>
          <a:xfrm>
            <a:off x="135384" y="290289"/>
            <a:ext cx="6094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MFA Multi Factor Authentication: </a:t>
            </a:r>
          </a:p>
          <a:p>
            <a:r>
              <a:rPr lang="en-US" dirty="0"/>
              <a:t>1.It is a must and its very recommended to use it.</a:t>
            </a:r>
          </a:p>
          <a:p>
            <a:r>
              <a:rPr lang="en-US" dirty="0"/>
              <a:t>2. Main reason to create: if a password is stolen or hacked, the account is not compromised.</a:t>
            </a:r>
          </a:p>
          <a:p>
            <a:endParaRPr lang="en-US" dirty="0"/>
          </a:p>
          <a:p>
            <a:r>
              <a:rPr lang="en-US" b="1" dirty="0"/>
              <a:t>[steps to Create]:</a:t>
            </a:r>
          </a:p>
          <a:p>
            <a:pPr marL="342900" indent="-342900">
              <a:buAutoNum type="arabicPeriod"/>
            </a:pPr>
            <a:r>
              <a:rPr lang="en-US" dirty="0"/>
              <a:t>Click your account [ It is in Top right corner ]</a:t>
            </a:r>
          </a:p>
          <a:p>
            <a:pPr marL="342900" indent="-342900">
              <a:buAutoNum type="arabicPeriod"/>
            </a:pPr>
            <a:r>
              <a:rPr lang="en-US" dirty="0"/>
              <a:t>Click Security Credential</a:t>
            </a:r>
          </a:p>
          <a:p>
            <a:pPr marL="342900" indent="-342900">
              <a:buAutoNum type="arabicPeriod"/>
            </a:pPr>
            <a:r>
              <a:rPr lang="en-US" dirty="0"/>
              <a:t>Click MFA </a:t>
            </a:r>
            <a:r>
              <a:rPr lang="en-US" dirty="0">
                <a:sym typeface="Wingdings" panose="05000000000000000000" pitchFamily="2" charset="2"/>
              </a:rPr>
              <a:t> Click Activate MFA 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Click Virtual MFA Device  select Authy, Authy is the best one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Note: If you activate MFA then you have to keep your MFA device [like mobile or any devices] safely once the device is lost then you cannot user your account.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6CB14-99FA-42EB-B02F-4B51FA7E63B8}"/>
              </a:ext>
            </a:extLst>
          </p:cNvPr>
          <p:cNvSpPr txBox="1"/>
          <p:nvPr/>
        </p:nvSpPr>
        <p:spPr>
          <a:xfrm>
            <a:off x="135384" y="4429958"/>
            <a:ext cx="110332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to generate Access Key for Aws Cli:</a:t>
            </a:r>
          </a:p>
          <a:p>
            <a:pPr marL="342900" indent="-342900">
              <a:buAutoNum type="arabicPeriod"/>
            </a:pPr>
            <a:r>
              <a:rPr lang="en-IN" dirty="0"/>
              <a:t>Click Users </a:t>
            </a:r>
            <a:r>
              <a:rPr lang="en-IN" dirty="0">
                <a:sym typeface="Wingdings" panose="05000000000000000000" pitchFamily="2" charset="2"/>
              </a:rPr>
              <a:t> click user name</a:t>
            </a:r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Click</a:t>
            </a:r>
            <a:r>
              <a:rPr lang="en-IN" dirty="0">
                <a:sym typeface="Wingdings" panose="05000000000000000000" pitchFamily="2" charset="2"/>
              </a:rPr>
              <a:t> Security Credentials  </a:t>
            </a:r>
            <a:r>
              <a:rPr lang="en-IN" dirty="0"/>
              <a:t>Click </a:t>
            </a:r>
            <a:r>
              <a:rPr lang="en-IN" dirty="0">
                <a:sym typeface="Wingdings" panose="05000000000000000000" pitchFamily="2" charset="2"/>
              </a:rPr>
              <a:t>Create Access Key  </a:t>
            </a:r>
            <a:r>
              <a:rPr lang="en-IN" dirty="0"/>
              <a:t>Click</a:t>
            </a:r>
            <a:r>
              <a:rPr lang="en-IN" dirty="0">
                <a:sym typeface="Wingdings" panose="05000000000000000000" pitchFamily="2" charset="2"/>
              </a:rPr>
              <a:t> Download.Csv file.</a:t>
            </a:r>
          </a:p>
          <a:p>
            <a:pPr marL="342900" indent="-342900">
              <a:buAutoNum type="arabicPeriod"/>
            </a:pPr>
            <a:endParaRPr lang="en-IN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Note: Always Create Access key with IAM User. Don’t Create Access Key with Root User.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751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2217D-1120-4E1A-A069-7017AD426586}"/>
              </a:ext>
            </a:extLst>
          </p:cNvPr>
          <p:cNvSpPr txBox="1"/>
          <p:nvPr/>
        </p:nvSpPr>
        <p:spPr>
          <a:xfrm>
            <a:off x="346229" y="399495"/>
            <a:ext cx="292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to use Access Key in Cli: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B4EFCB-29D2-45F3-87A2-95D9DCDD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563" y="2110527"/>
            <a:ext cx="6638925" cy="3705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BDD46-141B-42EB-8FC9-7404C1E7302C}"/>
              </a:ext>
            </a:extLst>
          </p:cNvPr>
          <p:cNvSpPr txBox="1"/>
          <p:nvPr/>
        </p:nvSpPr>
        <p:spPr>
          <a:xfrm>
            <a:off x="717176" y="1013012"/>
            <a:ext cx="601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Download Aws Cli for windows machine and then install it.</a:t>
            </a:r>
          </a:p>
          <a:p>
            <a:pPr marL="342900" indent="-342900">
              <a:buAutoNum type="arabicPeriod"/>
            </a:pPr>
            <a:r>
              <a:rPr lang="en-IN" dirty="0"/>
              <a:t>Go to Cmd prompt and do this.</a:t>
            </a:r>
          </a:p>
        </p:txBody>
      </p:sp>
    </p:spTree>
    <p:extLst>
      <p:ext uri="{BB962C8B-B14F-4D97-AF65-F5344CB8AC3E}">
        <p14:creationId xmlns:p14="http://schemas.microsoft.com/office/powerpoint/2010/main" val="305881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50FF8-80F0-4966-9D15-D8536119D30C}"/>
              </a:ext>
            </a:extLst>
          </p:cNvPr>
          <p:cNvSpPr txBox="1"/>
          <p:nvPr/>
        </p:nvSpPr>
        <p:spPr>
          <a:xfrm>
            <a:off x="461639" y="541538"/>
            <a:ext cx="78538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Aws Cloud shell:</a:t>
            </a:r>
          </a:p>
          <a:p>
            <a:pPr marL="342900" indent="-342900">
              <a:buAutoNum type="arabicPeriod"/>
            </a:pPr>
            <a:r>
              <a:rPr lang="en-IN" dirty="0"/>
              <a:t>Cloud Shell is Basically a terminal in the cloud of Aws. It is an alternative to Cli.</a:t>
            </a:r>
          </a:p>
          <a:p>
            <a:pPr marL="342900" indent="-342900">
              <a:buAutoNum type="arabicPeriod"/>
            </a:pPr>
            <a:r>
              <a:rPr lang="en-IN" dirty="0"/>
              <a:t> It will be available for some region not for all region.</a:t>
            </a:r>
          </a:p>
          <a:p>
            <a:pPr marL="342900" indent="-342900">
              <a:buAutoNum type="arabicPeriod"/>
            </a:pPr>
            <a:r>
              <a:rPr lang="en-IN" dirty="0"/>
              <a:t>Check video in Udemy </a:t>
            </a:r>
            <a:r>
              <a:rPr lang="en-IN" dirty="0">
                <a:sym typeface="Wingdings" panose="05000000000000000000" pitchFamily="2" charset="2"/>
              </a:rPr>
              <a:t> Section 4 [video 24] for more detail.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3CFA7-A9CD-4576-BE20-11D8DDAA0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40" y="1741867"/>
            <a:ext cx="9303798" cy="466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4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148A2-EA30-454C-BCCF-0FF0FD790A4B}"/>
              </a:ext>
            </a:extLst>
          </p:cNvPr>
          <p:cNvSpPr txBox="1"/>
          <p:nvPr/>
        </p:nvSpPr>
        <p:spPr>
          <a:xfrm>
            <a:off x="322729" y="349623"/>
            <a:ext cx="108606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IAM Security Tools: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Credential report: [account level]</a:t>
            </a:r>
          </a:p>
          <a:p>
            <a:r>
              <a:rPr lang="en-IN" dirty="0"/>
              <a:t>         IAM Management Console </a:t>
            </a:r>
            <a:r>
              <a:rPr lang="en-IN" dirty="0">
                <a:sym typeface="Wingdings" panose="05000000000000000000" pitchFamily="2" charset="2"/>
              </a:rPr>
              <a:t> Credential report  Download the csv file and see the credentials for the user.</a:t>
            </a:r>
          </a:p>
          <a:p>
            <a:endParaRPr lang="en-IN" b="1" dirty="0">
              <a:sym typeface="Wingdings" panose="05000000000000000000" pitchFamily="2" charset="2"/>
            </a:endParaRPr>
          </a:p>
          <a:p>
            <a:r>
              <a:rPr lang="en-IN" b="1" dirty="0">
                <a:sym typeface="Wingdings" panose="05000000000000000000" pitchFamily="2" charset="2"/>
              </a:rPr>
              <a:t>2.   IAM Access Advisor: [User level]</a:t>
            </a:r>
          </a:p>
          <a:p>
            <a:r>
              <a:rPr lang="en-IN" dirty="0">
                <a:sym typeface="Wingdings" panose="05000000000000000000" pitchFamily="2" charset="2"/>
              </a:rPr>
              <a:t>         It shows the services permission and when they are lastly used that service.</a:t>
            </a:r>
          </a:p>
          <a:p>
            <a:r>
              <a:rPr lang="en-IN" dirty="0">
                <a:sym typeface="Wingdings" panose="05000000000000000000" pitchFamily="2" charset="2"/>
              </a:rPr>
              <a:t>         </a:t>
            </a:r>
            <a:r>
              <a:rPr lang="en-IN" dirty="0"/>
              <a:t>IAM Management Console </a:t>
            </a:r>
            <a:r>
              <a:rPr lang="en-IN" dirty="0">
                <a:sym typeface="Wingdings" panose="05000000000000000000" pitchFamily="2" charset="2"/>
              </a:rPr>
              <a:t> Users  click any user name  Access Advisor</a:t>
            </a:r>
          </a:p>
        </p:txBody>
      </p:sp>
    </p:spTree>
    <p:extLst>
      <p:ext uri="{BB962C8B-B14F-4D97-AF65-F5344CB8AC3E}">
        <p14:creationId xmlns:p14="http://schemas.microsoft.com/office/powerpoint/2010/main" val="249393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5681F-B5DF-4634-85C4-675159466B4A}"/>
              </a:ext>
            </a:extLst>
          </p:cNvPr>
          <p:cNvSpPr txBox="1"/>
          <p:nvPr/>
        </p:nvSpPr>
        <p:spPr>
          <a:xfrm>
            <a:off x="268941" y="206188"/>
            <a:ext cx="11394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to Configure alert for the budget Usage:</a:t>
            </a:r>
          </a:p>
          <a:p>
            <a:pPr marL="342900" indent="-342900">
              <a:buAutoNum type="arabicPeriod"/>
            </a:pPr>
            <a:r>
              <a:rPr lang="en-IN" dirty="0"/>
              <a:t>Basically the IAM User has no Access to the billing account.</a:t>
            </a:r>
          </a:p>
          <a:p>
            <a:pPr marL="342900" indent="-342900">
              <a:buAutoNum type="arabicPeriod"/>
            </a:pPr>
            <a:r>
              <a:rPr lang="en-IN" dirty="0"/>
              <a:t>To resolve this Issue First login as a root user </a:t>
            </a:r>
            <a:r>
              <a:rPr lang="en-IN" dirty="0">
                <a:sym typeface="Wingdings" panose="05000000000000000000" pitchFamily="2" charset="2"/>
              </a:rPr>
              <a:t> click your Account  Click IAM User and role access to billing information  Edit  Select the check box and Click Update.</a:t>
            </a:r>
          </a:p>
          <a:p>
            <a:pPr marL="342900" indent="-342900">
              <a:buAutoNum type="arabicPeriod"/>
            </a:pPr>
            <a:endParaRPr lang="en-IN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Now login as IAM User  Go to Billing Dashboard   Check Bills [It gives info about the bills and which services is creating more expenses.]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b="1" dirty="0">
                <a:sym typeface="Wingdings" panose="05000000000000000000" pitchFamily="2" charset="2"/>
              </a:rPr>
              <a:t>Create a Budget and then set a Alert for that Budget: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Billing Dashboard   Budget  Create Budget  Cost Budget  Enter Budget amount  Budget name  click next.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Configure Alert  Add alert threshold  Email recipient.</a:t>
            </a:r>
          </a:p>
        </p:txBody>
      </p:sp>
    </p:spTree>
    <p:extLst>
      <p:ext uri="{BB962C8B-B14F-4D97-AF65-F5344CB8AC3E}">
        <p14:creationId xmlns:p14="http://schemas.microsoft.com/office/powerpoint/2010/main" val="211508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A48C9-F427-49BB-B7B9-F2998BA08612}"/>
              </a:ext>
            </a:extLst>
          </p:cNvPr>
          <p:cNvSpPr txBox="1"/>
          <p:nvPr/>
        </p:nvSpPr>
        <p:spPr>
          <a:xfrm>
            <a:off x="340658" y="394447"/>
            <a:ext cx="115106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Launching an Ec2 Instance:</a:t>
            </a:r>
          </a:p>
          <a:p>
            <a:pPr marL="342900" indent="-342900">
              <a:buAutoNum type="arabicPeriod"/>
            </a:pPr>
            <a:r>
              <a:rPr lang="en-IN" dirty="0"/>
              <a:t>Type Ec2 in Search box </a:t>
            </a:r>
            <a:r>
              <a:rPr lang="en-IN" dirty="0">
                <a:sym typeface="Wingdings" panose="05000000000000000000" pitchFamily="2" charset="2"/>
              </a:rPr>
              <a:t> Choose a region.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Instance  Launch instance’s.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 Choose AMI [For now select Quick Start]  Select Amazon Linux 2 AMI which is a free tier then choose Instance [t2 micro] 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Config Instance details  Add Storage  Add Tags like [ Name : My first Instance].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Config Security group [click add rule and choose HTTP]  Create key pair  [ Key pair is something that will be using to SSH ] select RSA and then give a key pair name and download the key pair [.pem file].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7594D-2E68-4CA1-9E0C-8B9083C69759}"/>
              </a:ext>
            </a:extLst>
          </p:cNvPr>
          <p:cNvSpPr txBox="1"/>
          <p:nvPr/>
        </p:nvSpPr>
        <p:spPr>
          <a:xfrm>
            <a:off x="340658" y="3173506"/>
            <a:ext cx="102433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Ec2 Instance Type: Overview</a:t>
            </a:r>
          </a:p>
          <a:p>
            <a:r>
              <a:rPr lang="en-IN" dirty="0"/>
              <a:t>There are few types of instance in Aws we will look some instances:</a:t>
            </a:r>
          </a:p>
          <a:p>
            <a:pPr marL="342900" indent="-342900">
              <a:buAutoNum type="arabicPeriod"/>
            </a:pPr>
            <a:r>
              <a:rPr lang="en-IN" dirty="0"/>
              <a:t>General purpose </a:t>
            </a:r>
            <a:r>
              <a:rPr lang="en-IN" dirty="0">
                <a:sym typeface="Wingdings" panose="05000000000000000000" pitchFamily="2" charset="2"/>
              </a:rPr>
              <a:t> balance between compute, network, memory.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Compute optimized  high performance processor [ Instance name mostly start’s with c. like c5, c6 etc.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Memory optimized  Ram [ Instance name mostly start’s with r and some will be x and z].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Storage optimized  local storage.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16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1942A-4A87-4EA4-A690-ADDCFD2E0338}"/>
              </a:ext>
            </a:extLst>
          </p:cNvPr>
          <p:cNvSpPr txBox="1"/>
          <p:nvPr/>
        </p:nvSpPr>
        <p:spPr>
          <a:xfrm>
            <a:off x="376518" y="403412"/>
            <a:ext cx="1032468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How to create Security Groups: [ creating inbound and outbound rules]</a:t>
            </a:r>
          </a:p>
          <a:p>
            <a:endParaRPr lang="en-IN" dirty="0"/>
          </a:p>
          <a:p>
            <a:r>
              <a:rPr lang="en-IN" dirty="0"/>
              <a:t>IAM </a:t>
            </a:r>
            <a:r>
              <a:rPr lang="en-IN" dirty="0">
                <a:sym typeface="Wingdings" panose="05000000000000000000" pitchFamily="2" charset="2"/>
              </a:rPr>
              <a:t> On the left hand side we have Security Groups.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We have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launch wizard 1</a:t>
            </a:r>
            <a:r>
              <a:rPr lang="en-IN" dirty="0">
                <a:sym typeface="Wingdings" panose="05000000000000000000" pitchFamily="2" charset="2"/>
              </a:rPr>
              <a:t> which we created while we launched our Ec2 Instance.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Default group </a:t>
            </a:r>
            <a:r>
              <a:rPr lang="en-IN" dirty="0">
                <a:sym typeface="Wingdings" panose="05000000000000000000" pitchFamily="2" charset="2"/>
              </a:rPr>
              <a:t>which is one that is created by default when you have your alias account created as well.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b="1" dirty="0">
                <a:sym typeface="Wingdings" panose="05000000000000000000" pitchFamily="2" charset="2"/>
              </a:rPr>
              <a:t>How to configure Security Groups and see the impact of inbound rule: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Go to Instance  Create a new instance [or] select a already created instance.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Copy the public ipv4 address and paste it in a new tab.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If it show time out error message then the firewall is protected your ec2 instance.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To resolve this go to  security groups  select the latest launch wizard and then edit the inbound rule.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For ex: for this scenario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Add HTTP </a:t>
            </a:r>
            <a:r>
              <a:rPr lang="en-IN" dirty="0">
                <a:sym typeface="Wingdings" panose="05000000000000000000" pitchFamily="2" charset="2"/>
              </a:rPr>
              <a:t>and select allow anywhere in inbound rule.</a:t>
            </a: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Now go to a new tab paste the ipv4 address. It will work fine.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43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EA704-5B0A-47C8-948B-4DA7C7B2B767}"/>
              </a:ext>
            </a:extLst>
          </p:cNvPr>
          <p:cNvSpPr txBox="1"/>
          <p:nvPr/>
        </p:nvSpPr>
        <p:spPr>
          <a:xfrm>
            <a:off x="412377" y="457200"/>
            <a:ext cx="114748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Note: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Putty </a:t>
            </a:r>
            <a:r>
              <a:rPr lang="en-IN" dirty="0">
                <a:sym typeface="Wingdings" panose="05000000000000000000" pitchFamily="2" charset="2"/>
              </a:rPr>
              <a:t>It is a tool which is used to access a remote machine from our local machine. Using putty You can do anything in your remote machine like Edit, Delete and run any files etc. </a:t>
            </a:r>
          </a:p>
          <a:p>
            <a:pPr marL="342900" indent="-342900">
              <a:buAutoNum type="arabicPeriod"/>
            </a:pPr>
            <a:endParaRPr lang="en-IN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IN" dirty="0">
                <a:sym typeface="Wingdings" panose="05000000000000000000" pitchFamily="2" charset="2"/>
              </a:rPr>
              <a:t>WinSCP [windows secure copy]  It is a tool used to transfer Something [like files etc] from our local machine to the remote machine. Putty cannot do that. So that we are using WinSCP.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For reference [watch]:</a:t>
            </a:r>
            <a:r>
              <a:rPr lang="en-IN" dirty="0">
                <a:sym typeface="Wingdings" panose="05000000000000000000" pitchFamily="2" charset="2"/>
                <a:hlinkClick r:id="rId2"/>
              </a:rPr>
              <a:t>https://www.youtube.com/watch?v=A290NMZHSlI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E06A9-CC72-4CFA-87FC-7F20DA7435CD}"/>
              </a:ext>
            </a:extLst>
          </p:cNvPr>
          <p:cNvSpPr txBox="1"/>
          <p:nvPr/>
        </p:nvSpPr>
        <p:spPr>
          <a:xfrm>
            <a:off x="654424" y="3998259"/>
            <a:ext cx="1089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Puttygen </a:t>
            </a:r>
            <a:r>
              <a:rPr lang="en-IN" dirty="0">
                <a:sym typeface="Wingdings" panose="05000000000000000000" pitchFamily="2" charset="2"/>
              </a:rPr>
              <a:t> It is a tool which is used to convert private key [.pem file] to [.ppk format] which putty can understand.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469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3555E-C0C7-4E36-B76D-944C37C2489F}"/>
              </a:ext>
            </a:extLst>
          </p:cNvPr>
          <p:cNvSpPr txBox="1"/>
          <p:nvPr/>
        </p:nvSpPr>
        <p:spPr>
          <a:xfrm>
            <a:off x="358588" y="613646"/>
            <a:ext cx="109459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to use SSH using Windows:</a:t>
            </a:r>
          </a:p>
          <a:p>
            <a:r>
              <a:rPr lang="en-US" dirty="0"/>
              <a:t>SSH is one of the most important function. It allows you to control a remote machine, all using the command line.</a:t>
            </a:r>
          </a:p>
          <a:p>
            <a:endParaRPr lang="en-US" dirty="0"/>
          </a:p>
          <a:p>
            <a:r>
              <a:rPr lang="en-US" dirty="0"/>
              <a:t>1. Convert private key [.pem file] to [.ppk format] Using putty gen.</a:t>
            </a:r>
          </a:p>
          <a:p>
            <a:r>
              <a:rPr lang="en-US" dirty="0"/>
              <a:t>2. Open putty </a:t>
            </a:r>
            <a:r>
              <a:rPr lang="en-US" dirty="0">
                <a:sym typeface="Wingdings" panose="05000000000000000000" pitchFamily="2" charset="2"/>
              </a:rPr>
              <a:t> paste ipv4 Dns address, port 22.</a:t>
            </a:r>
          </a:p>
          <a:p>
            <a:r>
              <a:rPr lang="en-US" dirty="0">
                <a:sym typeface="Wingdings" panose="05000000000000000000" pitchFamily="2" charset="2"/>
              </a:rPr>
              <a:t>3. Then add keypair[.ppk format file] to the putty.</a:t>
            </a:r>
          </a:p>
          <a:p>
            <a:r>
              <a:rPr lang="en-US" dirty="0">
                <a:sym typeface="Wingdings" panose="05000000000000000000" pitchFamily="2" charset="2"/>
              </a:rPr>
              <a:t>     Go to  In category[putty]  expand SSh  click Auth  Browse for the private key.</a:t>
            </a:r>
          </a:p>
          <a:p>
            <a:r>
              <a:rPr lang="en-US" dirty="0">
                <a:sym typeface="Wingdings" panose="05000000000000000000" pitchFamily="2" charset="2"/>
              </a:rPr>
              <a:t>4. Go to session in putty  In saved session  just type the instance name and click save  click ok.</a:t>
            </a:r>
          </a:p>
          <a:p>
            <a:r>
              <a:rPr lang="en-US" dirty="0">
                <a:sym typeface="Wingdings" panose="05000000000000000000" pitchFamily="2" charset="2"/>
              </a:rPr>
              <a:t>5. Cmd will Open and ask </a:t>
            </a:r>
          </a:p>
          <a:p>
            <a:r>
              <a:rPr lang="en-US" dirty="0">
                <a:sym typeface="Wingdings" panose="05000000000000000000" pitchFamily="2" charset="2"/>
              </a:rPr>
              <a:t>     login as :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ec2-user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6382B8-E890-4B55-A74E-51BC6BD68591}"/>
              </a:ext>
            </a:extLst>
          </p:cNvPr>
          <p:cNvSpPr txBox="1"/>
          <p:nvPr/>
        </p:nvSpPr>
        <p:spPr>
          <a:xfrm>
            <a:off x="358588" y="3576918"/>
            <a:ext cx="711021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How to use SSH using windows 10 or any windows latest version :</a:t>
            </a:r>
          </a:p>
          <a:p>
            <a:r>
              <a:rPr lang="en-IN" sz="1200" dirty="0"/>
              <a:t>If you are using windows 10 or above version then you may be able to use SSH command instead of using putty.</a:t>
            </a:r>
          </a:p>
          <a:p>
            <a:pPr marL="228600" indent="-228600">
              <a:buAutoNum type="arabicPeriod"/>
            </a:pPr>
            <a:r>
              <a:rPr lang="en-IN" sz="1200" dirty="0"/>
              <a:t>Go to </a:t>
            </a:r>
            <a:r>
              <a:rPr lang="en-IN" sz="1200" dirty="0">
                <a:sym typeface="Wingdings" panose="05000000000000000000" pitchFamily="2" charset="2"/>
              </a:rPr>
              <a:t> windows PowerShell [or] Cmd prompt.</a:t>
            </a:r>
          </a:p>
          <a:p>
            <a:pPr marL="228600" indent="-228600">
              <a:buAutoNum type="arabicPeriod"/>
            </a:pPr>
            <a:r>
              <a:rPr lang="en-IN" sz="1200" dirty="0">
                <a:sym typeface="Wingdings" panose="05000000000000000000" pitchFamily="2" charset="2"/>
              </a:rPr>
              <a:t>Just Type ssh and if you see this below command means that you have access to SSH. </a:t>
            </a:r>
          </a:p>
          <a:p>
            <a:pPr marL="228600" indent="-228600">
              <a:buAutoNum type="arabicPeriod"/>
            </a:pP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132D5-CA68-4C81-A2FE-A3735CA91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32" y="4518211"/>
            <a:ext cx="5281332" cy="824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FAAF5-0796-437A-8C2D-02BA02F18A2E}"/>
              </a:ext>
            </a:extLst>
          </p:cNvPr>
          <p:cNvSpPr txBox="1"/>
          <p:nvPr/>
        </p:nvSpPr>
        <p:spPr>
          <a:xfrm>
            <a:off x="439271" y="5585012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7B9049-E9B7-4F02-B425-A4071A67D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8" y="5368952"/>
            <a:ext cx="8767483" cy="11079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9CF1C0-7E36-4775-A75E-7DB84C458576}"/>
              </a:ext>
            </a:extLst>
          </p:cNvPr>
          <p:cNvSpPr txBox="1"/>
          <p:nvPr/>
        </p:nvSpPr>
        <p:spPr>
          <a:xfrm>
            <a:off x="9278471" y="4285129"/>
            <a:ext cx="2223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Note</a:t>
            </a:r>
            <a:r>
              <a:rPr lang="en-IN" sz="1200" dirty="0"/>
              <a:t>: watch Udemy video</a:t>
            </a:r>
          </a:p>
          <a:p>
            <a:r>
              <a:rPr lang="en-IN" sz="1200" dirty="0"/>
              <a:t>For better clarification on config.</a:t>
            </a:r>
          </a:p>
          <a:p>
            <a:r>
              <a:rPr lang="en-IN" sz="1200" dirty="0">
                <a:solidFill>
                  <a:srgbClr val="FF0000"/>
                </a:solidFill>
              </a:rPr>
              <a:t>Section 5 : video 41</a:t>
            </a:r>
          </a:p>
        </p:txBody>
      </p:sp>
    </p:spTree>
    <p:extLst>
      <p:ext uri="{BB962C8B-B14F-4D97-AF65-F5344CB8AC3E}">
        <p14:creationId xmlns:p14="http://schemas.microsoft.com/office/powerpoint/2010/main" val="345023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B79A6-6644-4518-8492-E1E4E7E45D15}"/>
              </a:ext>
            </a:extLst>
          </p:cNvPr>
          <p:cNvSpPr txBox="1"/>
          <p:nvPr/>
        </p:nvSpPr>
        <p:spPr>
          <a:xfrm>
            <a:off x="224118" y="224118"/>
            <a:ext cx="67233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How to use SSH using Linux or mac: </a:t>
            </a:r>
          </a:p>
          <a:p>
            <a:r>
              <a:rPr lang="en-IN" sz="1200" dirty="0"/>
              <a:t>It is similar to using windows 10. </a:t>
            </a:r>
            <a:r>
              <a:rPr lang="en-IN" sz="1200" dirty="0">
                <a:solidFill>
                  <a:srgbClr val="FF0000"/>
                </a:solidFill>
              </a:rPr>
              <a:t>for better clarification on config watch Udemy video section 5 : video 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B60EC-E49B-4932-9063-82ABAD88DFE0}"/>
              </a:ext>
            </a:extLst>
          </p:cNvPr>
          <p:cNvSpPr txBox="1"/>
          <p:nvPr/>
        </p:nvSpPr>
        <p:spPr>
          <a:xfrm>
            <a:off x="304800" y="1344705"/>
            <a:ext cx="808323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Ec2 instance connect:</a:t>
            </a:r>
          </a:p>
          <a:p>
            <a:pPr marL="228600" indent="-228600">
              <a:buAutoNum type="arabicPeriod"/>
            </a:pPr>
            <a:r>
              <a:rPr lang="en-IN" sz="1200" dirty="0"/>
              <a:t>We can connect Ec2 instance using </a:t>
            </a:r>
            <a:r>
              <a:rPr lang="en-IN" sz="1200" dirty="0">
                <a:solidFill>
                  <a:srgbClr val="FF0000"/>
                </a:solidFill>
              </a:rPr>
              <a:t>putty</a:t>
            </a:r>
            <a:r>
              <a:rPr lang="en-IN" sz="1200" dirty="0"/>
              <a:t> or </a:t>
            </a:r>
            <a:r>
              <a:rPr lang="en-IN" sz="1200" dirty="0">
                <a:solidFill>
                  <a:srgbClr val="FF0000"/>
                </a:solidFill>
              </a:rPr>
              <a:t>SSH</a:t>
            </a:r>
            <a:r>
              <a:rPr lang="en-IN" sz="1200" dirty="0"/>
              <a:t>. There is one more way that is by using </a:t>
            </a:r>
            <a:r>
              <a:rPr lang="en-IN" sz="1200" dirty="0">
                <a:solidFill>
                  <a:srgbClr val="FF0000"/>
                </a:solidFill>
              </a:rPr>
              <a:t>Ec2 instance connect</a:t>
            </a:r>
            <a:r>
              <a:rPr lang="en-IN" sz="1200" dirty="0"/>
              <a:t>.</a:t>
            </a:r>
          </a:p>
          <a:p>
            <a:pPr marL="228600" indent="-228600">
              <a:buAutoNum type="arabicPeriod"/>
            </a:pPr>
            <a:endParaRPr lang="en-IN" sz="1200" dirty="0"/>
          </a:p>
          <a:p>
            <a:pPr marL="228600" indent="-228600">
              <a:buAutoNum type="arabicPeriod"/>
            </a:pPr>
            <a:r>
              <a:rPr lang="en-IN" sz="1200" dirty="0"/>
              <a:t>Select the Instance </a:t>
            </a:r>
            <a:r>
              <a:rPr lang="en-IN" sz="1200" dirty="0">
                <a:sym typeface="Wingdings" panose="05000000000000000000" pitchFamily="2" charset="2"/>
              </a:rPr>
              <a:t> Click Connect [Top navigation]  Username [ec2-user]  Click Connect.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b="1" dirty="0">
                <a:sym typeface="Wingdings" panose="05000000000000000000" pitchFamily="2" charset="2"/>
              </a:rPr>
              <a:t>Note:</a:t>
            </a:r>
          </a:p>
          <a:p>
            <a:pPr marL="228600" indent="-228600">
              <a:buAutoNum type="arabicPeriod"/>
            </a:pPr>
            <a:r>
              <a:rPr lang="en-IN" sz="1200" dirty="0">
                <a:sym typeface="Wingdings" panose="05000000000000000000" pitchFamily="2" charset="2"/>
              </a:rPr>
              <a:t>Ec2 Instance Connect may only work with Amazon Linux 2 or Ubuntu So far. It doesn’t work with every type of AMI’s in AWS.</a:t>
            </a:r>
          </a:p>
          <a:p>
            <a:pPr marL="228600" indent="-228600">
              <a:buAutoNum type="arabicPeriod"/>
            </a:pPr>
            <a:r>
              <a:rPr lang="en-IN" sz="1200" dirty="0">
                <a:sym typeface="Wingdings" panose="05000000000000000000" pitchFamily="2" charset="2"/>
              </a:rPr>
              <a:t>Ec2 Instance Connect it is still run on SSH.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B5A07-3C7A-46FA-A5D1-F52FCE280D75}"/>
              </a:ext>
            </a:extLst>
          </p:cNvPr>
          <p:cNvSpPr txBox="1"/>
          <p:nvPr/>
        </p:nvSpPr>
        <p:spPr>
          <a:xfrm>
            <a:off x="304800" y="3388621"/>
            <a:ext cx="1095487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Ec2 instance connect with IAM Role for using AWS cli:</a:t>
            </a:r>
          </a:p>
          <a:p>
            <a:pPr marL="228600" indent="-228600">
              <a:buAutoNum type="arabicPeriod"/>
            </a:pPr>
            <a:r>
              <a:rPr lang="en-IN" sz="1200" dirty="0"/>
              <a:t>We can perform any Linux command in Ec2 Instance Connect. We can also Perform </a:t>
            </a:r>
            <a:r>
              <a:rPr lang="en-IN" sz="1200" dirty="0">
                <a:solidFill>
                  <a:srgbClr val="FF0000"/>
                </a:solidFill>
              </a:rPr>
              <a:t>Aws cli </a:t>
            </a:r>
            <a:r>
              <a:rPr lang="en-IN" sz="1200" dirty="0"/>
              <a:t>[Run IAM command] in Aws Linux 2 Instance. </a:t>
            </a:r>
          </a:p>
          <a:p>
            <a:pPr marL="228600" indent="-228600">
              <a:buAutoNum type="arabicPeriod"/>
            </a:pPr>
            <a:r>
              <a:rPr lang="en-IN" sz="1200" dirty="0"/>
              <a:t>In the Ec2 Instance terminal if you type aws iam list-users it will ask for credentials. </a:t>
            </a:r>
            <a:r>
              <a:rPr lang="en-IN" sz="1200" dirty="0">
                <a:solidFill>
                  <a:srgbClr val="FF0000"/>
                </a:solidFill>
              </a:rPr>
              <a:t>Because here Ec2 service is accessing or performing other services</a:t>
            </a:r>
            <a:r>
              <a:rPr lang="en-IN" sz="1200" dirty="0"/>
              <a:t>. we can directly configure the credentials Using aws configure in the Ec2 instance connect but it is a bad idea other user can easily see or retrieve your credentials.</a:t>
            </a:r>
          </a:p>
          <a:p>
            <a:pPr marL="228600" indent="-228600">
              <a:buAutoNum type="arabicPeriod"/>
            </a:pPr>
            <a:r>
              <a:rPr lang="en-IN" sz="1200" dirty="0"/>
              <a:t>For this we need permission that means we have to </a:t>
            </a:r>
            <a:r>
              <a:rPr lang="en-IN" sz="1200" dirty="0">
                <a:solidFill>
                  <a:srgbClr val="00B050"/>
                </a:solidFill>
              </a:rPr>
              <a:t>create a role in IAM for accessing some services in EC2</a:t>
            </a:r>
            <a:r>
              <a:rPr lang="en-IN" sz="1200" dirty="0"/>
              <a:t>.</a:t>
            </a:r>
          </a:p>
          <a:p>
            <a:endParaRPr lang="en-IN" sz="1200" dirty="0"/>
          </a:p>
          <a:p>
            <a:r>
              <a:rPr lang="en-IN" sz="1200" b="1" dirty="0"/>
              <a:t>Steps for using Ec2 Instance Connect with IAM role:</a:t>
            </a:r>
          </a:p>
          <a:p>
            <a:pPr marL="228600" indent="-228600">
              <a:buAutoNum type="arabicPeriod"/>
            </a:pPr>
            <a:r>
              <a:rPr lang="en-IN" sz="1200" dirty="0"/>
              <a:t>We must have to Create a IAM role.</a:t>
            </a:r>
          </a:p>
          <a:p>
            <a:pPr marL="228600" indent="-228600">
              <a:buAutoNum type="arabicPeriod"/>
            </a:pPr>
            <a:r>
              <a:rPr lang="en-IN" sz="1200" dirty="0"/>
              <a:t>Go to Ec2 </a:t>
            </a:r>
            <a:r>
              <a:rPr lang="en-IN" sz="1200" dirty="0">
                <a:sym typeface="Wingdings" panose="05000000000000000000" pitchFamily="2" charset="2"/>
              </a:rPr>
              <a:t> select Linux Instance  Click Action dropdown[Top navigation]  Click Security  click Modify IAM role  select the IAM role .</a:t>
            </a:r>
          </a:p>
          <a:p>
            <a:pPr marL="228600" indent="-228600">
              <a:buFontTx/>
              <a:buAutoNum type="arabicPeriod"/>
            </a:pPr>
            <a:r>
              <a:rPr lang="en-IN" sz="1200" dirty="0"/>
              <a:t>Select the Instance </a:t>
            </a:r>
            <a:r>
              <a:rPr lang="en-IN" sz="1200" dirty="0">
                <a:sym typeface="Wingdings" panose="05000000000000000000" pitchFamily="2" charset="2"/>
              </a:rPr>
              <a:t> Click Connect [Top navigation]  Username [ec2-user]  Click Connect  </a:t>
            </a:r>
            <a:r>
              <a:rPr lang="en-IN" sz="1200" dirty="0">
                <a:solidFill>
                  <a:srgbClr val="00B050"/>
                </a:solidFill>
                <a:sym typeface="Wingdings" panose="05000000000000000000" pitchFamily="2" charset="2"/>
              </a:rPr>
              <a:t>Type aws iam list-users </a:t>
            </a:r>
            <a:r>
              <a:rPr lang="en-IN" sz="1200" dirty="0">
                <a:sym typeface="Wingdings" panose="05000000000000000000" pitchFamily="2" charset="2"/>
              </a:rPr>
              <a:t>in the Ec2 Instance Connect.</a:t>
            </a:r>
          </a:p>
          <a:p>
            <a:pPr marL="228600" indent="-228600">
              <a:buFontTx/>
              <a:buAutoNum type="arabicPeriod"/>
            </a:pPr>
            <a:r>
              <a:rPr lang="en-IN" sz="1200" dirty="0">
                <a:sym typeface="Wingdings" panose="05000000000000000000" pitchFamily="2" charset="2"/>
              </a:rPr>
              <a:t>The list users will be displayed in the Json format.</a:t>
            </a:r>
          </a:p>
        </p:txBody>
      </p:sp>
    </p:spTree>
    <p:extLst>
      <p:ext uri="{BB962C8B-B14F-4D97-AF65-F5344CB8AC3E}">
        <p14:creationId xmlns:p14="http://schemas.microsoft.com/office/powerpoint/2010/main" val="286620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4D03B-BF2C-420C-ACF1-85E42E09E873}"/>
              </a:ext>
            </a:extLst>
          </p:cNvPr>
          <p:cNvSpPr txBox="1"/>
          <p:nvPr/>
        </p:nvSpPr>
        <p:spPr>
          <a:xfrm>
            <a:off x="215153" y="188259"/>
            <a:ext cx="8732519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Elastic IP address:</a:t>
            </a:r>
          </a:p>
          <a:p>
            <a:r>
              <a:rPr lang="en-IN" sz="1200" dirty="0"/>
              <a:t>If you want your public ipv4 address not to change when terminate or stop. You have to use Elastic Ip address.</a:t>
            </a:r>
          </a:p>
          <a:p>
            <a:endParaRPr lang="en-IN" sz="1200" dirty="0"/>
          </a:p>
          <a:p>
            <a:r>
              <a:rPr lang="en-IN" sz="1200" dirty="0"/>
              <a:t>1. In the EC2 Go to </a:t>
            </a:r>
            <a:r>
              <a:rPr lang="en-IN" sz="1200" dirty="0">
                <a:sym typeface="Wingdings" panose="05000000000000000000" pitchFamily="2" charset="2"/>
              </a:rPr>
              <a:t> Elastic Ip’s [left navigation] click Allocate Elastic Ip address  select Amazon’s pool ipv4 address  Click Allocate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dirty="0">
                <a:sym typeface="Wingdings" panose="05000000000000000000" pitchFamily="2" charset="2"/>
              </a:rPr>
              <a:t>After Allocate the Elastic Ip address</a:t>
            </a:r>
          </a:p>
          <a:p>
            <a:r>
              <a:rPr lang="en-IN" sz="1200" dirty="0">
                <a:sym typeface="Wingdings" panose="05000000000000000000" pitchFamily="2" charset="2"/>
              </a:rPr>
              <a:t>2. Go to  Elastic Ip’s   Click Action [Top Navigation]  click Associate Elastic Ip address </a:t>
            </a:r>
          </a:p>
          <a:p>
            <a:r>
              <a:rPr lang="en-IN" sz="1200" dirty="0">
                <a:sym typeface="Wingdings" panose="05000000000000000000" pitchFamily="2" charset="2"/>
              </a:rPr>
              <a:t>3. Then go to Instance and now your ipv4 address will not change when terminate or stopped.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dirty="0">
                <a:sym typeface="Wingdings" panose="05000000000000000000" pitchFamily="2" charset="2"/>
              </a:rPr>
              <a:t>If you want to remove the Elastic Ip address from your Instance.</a:t>
            </a:r>
          </a:p>
          <a:p>
            <a:r>
              <a:rPr lang="en-IN" sz="1200" dirty="0">
                <a:sym typeface="Wingdings" panose="05000000000000000000" pitchFamily="2" charset="2"/>
              </a:rPr>
              <a:t>4. Go to  Elastic Ip’s   Click Action [Top Navigation]  click Disassociate Elastic Ip address   click Release Elastic Ip address.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b="1" dirty="0">
                <a:sym typeface="Wingdings" panose="05000000000000000000" pitchFamily="2" charset="2"/>
              </a:rPr>
              <a:t>Note:</a:t>
            </a:r>
          </a:p>
          <a:p>
            <a:pPr marL="228600" indent="-228600">
              <a:buAutoNum type="arabicPeriod"/>
            </a:pPr>
            <a:r>
              <a:rPr lang="en-IN" sz="1200" dirty="0">
                <a:sym typeface="Wingdings" panose="05000000000000000000" pitchFamily="2" charset="2"/>
              </a:rPr>
              <a:t>Elastic Ip address is allocate to an Specific Instance.</a:t>
            </a:r>
          </a:p>
          <a:p>
            <a:pPr marL="228600" indent="-228600">
              <a:buAutoNum type="arabicPeriod"/>
            </a:pPr>
            <a:r>
              <a:rPr lang="en-IN" sz="1200" dirty="0">
                <a:sym typeface="Wingdings" panose="05000000000000000000" pitchFamily="2" charset="2"/>
              </a:rPr>
              <a:t>With elastic Ip address you are charged as long as you don’t use them. So we need to attach it ASAP. Otherwise we will be charged.   </a:t>
            </a:r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60BB3-0994-439C-89A8-42D1D626177A}"/>
              </a:ext>
            </a:extLst>
          </p:cNvPr>
          <p:cNvSpPr txBox="1"/>
          <p:nvPr/>
        </p:nvSpPr>
        <p:spPr>
          <a:xfrm>
            <a:off x="215153" y="3142914"/>
            <a:ext cx="11256030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Ec2 Placement Group:</a:t>
            </a:r>
          </a:p>
          <a:p>
            <a:endParaRPr lang="en-IN" sz="1200" dirty="0"/>
          </a:p>
          <a:p>
            <a:r>
              <a:rPr lang="en-IN" sz="1200" dirty="0"/>
              <a:t> click Placement group[left hand side] </a:t>
            </a:r>
            <a:r>
              <a:rPr lang="en-IN" sz="1200" dirty="0">
                <a:sym typeface="Wingdings" panose="05000000000000000000" pitchFamily="2" charset="2"/>
              </a:rPr>
              <a:t> Create Placement Group  Choose any placement like [ cluster or spread or partition].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dirty="0">
                <a:sym typeface="Wingdings" panose="05000000000000000000" pitchFamily="2" charset="2"/>
              </a:rPr>
              <a:t>After Config the placement group</a:t>
            </a:r>
          </a:p>
          <a:p>
            <a:r>
              <a:rPr lang="en-IN" sz="1200" dirty="0">
                <a:sym typeface="Wingdings" panose="05000000000000000000" pitchFamily="2" charset="2"/>
              </a:rPr>
              <a:t> </a:t>
            </a:r>
          </a:p>
          <a:p>
            <a:r>
              <a:rPr lang="en-IN" sz="1200" dirty="0">
                <a:sym typeface="Wingdings" panose="05000000000000000000" pitchFamily="2" charset="2"/>
              </a:rPr>
              <a:t>Go to  Instance  Create an Instance  In step:3 [ Config Instance Details]  Select (Add Instance to placement group) and then choose the placement group.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b="1" dirty="0">
                <a:sym typeface="Wingdings" panose="05000000000000000000" pitchFamily="2" charset="2"/>
              </a:rPr>
              <a:t>Elastic Network Interface:</a:t>
            </a:r>
          </a:p>
          <a:p>
            <a:pPr marL="228600" indent="-228600">
              <a:buAutoNum type="arabicPeriod"/>
            </a:pPr>
            <a:r>
              <a:rPr lang="en-IN" sz="1200" dirty="0"/>
              <a:t>Create two Ec2 Instance.  [By Default Every Instance there will be an ENI [primary ENI]].</a:t>
            </a:r>
          </a:p>
          <a:p>
            <a:endParaRPr lang="en-IN" sz="1200" dirty="0"/>
          </a:p>
          <a:p>
            <a:r>
              <a:rPr lang="en-IN" sz="1200" dirty="0"/>
              <a:t>To Create an Secondary ENI:</a:t>
            </a:r>
          </a:p>
          <a:p>
            <a:r>
              <a:rPr lang="en-IN" sz="1200" dirty="0"/>
              <a:t>Go to </a:t>
            </a:r>
            <a:r>
              <a:rPr lang="en-IN" sz="1200" dirty="0">
                <a:sym typeface="Wingdings" panose="05000000000000000000" pitchFamily="2" charset="2"/>
              </a:rPr>
              <a:t> Network Interface </a:t>
            </a:r>
            <a:r>
              <a:rPr lang="en-IN" sz="1200" dirty="0"/>
              <a:t>[left hand side] </a:t>
            </a:r>
            <a:r>
              <a:rPr lang="en-IN" sz="1200" dirty="0">
                <a:sym typeface="Wingdings" panose="05000000000000000000" pitchFamily="2" charset="2"/>
              </a:rPr>
              <a:t> Click Create Network Interface  In the Subnet Choose the AZ, In which you have Create the Instance  Create Network Interface.</a:t>
            </a:r>
          </a:p>
          <a:p>
            <a:r>
              <a:rPr lang="en-IN" sz="1200" dirty="0">
                <a:sym typeface="Wingdings" panose="05000000000000000000" pitchFamily="2" charset="2"/>
              </a:rPr>
              <a:t>            Click Action [Top Navigation] Attach.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dirty="0">
                <a:sym typeface="Wingdings" panose="05000000000000000000" pitchFamily="2" charset="2"/>
              </a:rPr>
              <a:t>After that Go to Instance  Select the Instance in which you have Config ENI  In the bottom Select network [ In Network Interface you can the Secondary ENI]</a:t>
            </a:r>
          </a:p>
          <a:p>
            <a:endParaRPr lang="en-IN" sz="1200" dirty="0">
              <a:sym typeface="Wingdings" panose="05000000000000000000" pitchFamily="2" charset="2"/>
            </a:endParaRPr>
          </a:p>
          <a:p>
            <a:r>
              <a:rPr lang="en-IN" sz="1200" b="1" dirty="0">
                <a:sym typeface="Wingdings" panose="05000000000000000000" pitchFamily="2" charset="2"/>
              </a:rPr>
              <a:t>Note</a:t>
            </a:r>
            <a:r>
              <a:rPr lang="en-IN" sz="1200" dirty="0">
                <a:sym typeface="Wingdings" panose="05000000000000000000" pitchFamily="2" charset="2"/>
              </a:rPr>
              <a:t>: </a:t>
            </a:r>
            <a:r>
              <a:rPr lang="en-US" sz="1200" dirty="0"/>
              <a:t>You can create ENI independently and attach them on the fly (move them) on EC2 instances for failover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13360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</TotalTime>
  <Words>2012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</dc:creator>
  <cp:lastModifiedBy>Naveen</cp:lastModifiedBy>
  <cp:revision>41</cp:revision>
  <dcterms:created xsi:type="dcterms:W3CDTF">2022-01-20T10:18:03Z</dcterms:created>
  <dcterms:modified xsi:type="dcterms:W3CDTF">2022-02-04T13:46:55Z</dcterms:modified>
</cp:coreProperties>
</file>